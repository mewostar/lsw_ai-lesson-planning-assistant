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560320"/>
            <a:ext cx="1097280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72865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</a:pPr>
            <a:r>
              <a:rPr sz="4600" b="1">
                <a:solidFill>
                  <a:srgbClr val="FFFFFF"/>
                </a:solidFill>
                <a:latin typeface="Microsoft YaHei"/>
              </a:rPr>
              <a:t>《荷塘月色》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9CA3AF"/>
                </a:solidFill>
                <a:latin typeface="Microsoft YaHei"/>
              </a:rPr>
              <a:t>2026年07月07日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课题导入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课题背景介绍：介绍《荷塘月色》的作者朱自清及其创作背景。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本节课学习目标：理解课文内容，赏析朱自清的散文风格，体会作者的情感表达。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重点难点提示：掌握重点语句，理解作者的情感变化。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作者介绍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朱自清简介：介绍朱自清的生平、文学成就及散文风格。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代表作：列举朱自清的代表作，如《背影》、《荷塘月色》等。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课文赏析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课文结构：分析《荷塘月色》的结构特点，如总分总、对比等。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主题思想：阐述课文的主题思想，如对美好生活的向往、对人生哲理的思考等。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重点语句分析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语句一：分析“月光如流水一般，静静地泻在这一片叶子和花上。”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语句二：分析“微风过处，送来缕缕清香，仿佛远处高楼上渺茫的歌声似的。”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重点语句分析（续）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语句三：分析“这时候叶子与花也有一丝的颤动，像闪电般，霎时传过荷塘。”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语句四：分析“月光如流水一般，静静地泻在这一片叶子和花上。”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重点语句分析（续）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语句五：分析“微风过处，送来缕缕清香，仿佛远处高楼上渺茫的歌声似的。”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重点语句分析（续）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语句六：分析“这时候叶子与花也有一丝的颤动，像闪电般，霎时传过荷塘。”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课堂练习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79320"/>
            <a:ext cx="10728655" cy="3550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6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600" b="0">
                <a:solidFill>
                  <a:srgbClr val="1F2937"/>
                </a:solidFill>
                <a:latin typeface="Microsoft YaHei"/>
              </a:rPr>
              <a:t>基础题：判断下列说法是否正确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3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300" b="0">
                <a:solidFill>
                  <a:srgbClr val="4B5563"/>
                </a:solidFill>
                <a:latin typeface="Microsoft YaHei"/>
              </a:rPr>
              <a:t>说法一：《荷塘月色》是朱自清的代表作之一。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3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300" b="0">
                <a:solidFill>
                  <a:srgbClr val="4B5563"/>
                </a:solidFill>
                <a:latin typeface="Microsoft YaHei"/>
              </a:rPr>
              <a:t>说法二：课文主要描写了荷塘的景色。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3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300" b="0">
                <a:solidFill>
                  <a:srgbClr val="4B5563"/>
                </a:solidFill>
                <a:latin typeface="Microsoft YaHei"/>
              </a:rPr>
              <a:t>说法三：作者在课文中表达了对美好生活的向往。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26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2600" b="0">
                <a:solidFill>
                  <a:srgbClr val="1F2937"/>
                </a:solidFill>
                <a:latin typeface="Microsoft YaHei"/>
              </a:rPr>
              <a:t>提高题：分析下列语句在文中的作用</a:t>
            </a:r>
          </a:p>
          <a:p>
            <a:pPr marL="457200" indent="-228600">
              <a:lnSpc>
                <a:spcPct val="130000"/>
              </a:lnSpc>
              <a:spcAft>
                <a:spcPts val="600"/>
              </a:spcAft>
            </a:pPr>
            <a:r>
              <a:rPr sz="2300" b="0">
                <a:solidFill>
                  <a:srgbClr val="1E40AF"/>
                </a:solidFill>
                <a:latin typeface="Microsoft YaHei"/>
              </a:rPr>
              <a:t>○  </a:t>
            </a:r>
            <a:r>
              <a:rPr sz="2300" b="0">
                <a:solidFill>
                  <a:srgbClr val="4B5563"/>
                </a:solidFill>
                <a:latin typeface="Microsoft YaHei"/>
              </a:rPr>
              <a:t>语句：“月光如流水一般，静静地泻在这一片叶子和花上。”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课堂练习（续）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3450"/>
            <a:ext cx="10728655" cy="962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拓展题：根据课文内容，仿写一段描写荷塘月色的文字。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1F2937"/>
                </a:solidFill>
                <a:latin typeface="Microsoft YaHei"/>
              </a:rPr>
              <a:t>作业布置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876550"/>
            <a:ext cx="10728655" cy="21564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复习课文内容，掌握重点语句。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查阅资料，了解朱自清的生平及散文风格。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1E40AF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1F2937"/>
                </a:solidFill>
                <a:latin typeface="Microsoft YaHei"/>
              </a:rPr>
              <a:t>撰写一篇关于《荷塘月色》的读后感。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CA3AF"/>
                </a:solidFill>
                <a:latin typeface="Microsoft YaHei"/>
              </a:rPr>
              <a:t>AI 备课助手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icrosoft YaHei"/>
              </a:rPr>
              <a:t>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175000"/>
            <a:ext cx="10728655" cy="155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3B82F6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FFFFFF"/>
                </a:solidFill>
                <a:latin typeface="Microsoft YaHei"/>
              </a:rPr>
              <a:t>回顾本节课所学内容，强调重点语句及作者情感。</a:t>
            </a:r>
          </a:p>
          <a:p>
            <a:pPr marL="0" indent="-228600">
              <a:lnSpc>
                <a:spcPct val="130000"/>
              </a:lnSpc>
              <a:spcAft>
                <a:spcPts val="600"/>
              </a:spcAft>
            </a:pPr>
            <a:r>
              <a:rPr sz="3000" b="1">
                <a:solidFill>
                  <a:srgbClr val="3B82F6"/>
                </a:solidFill>
                <a:latin typeface="Microsoft YaHei"/>
              </a:rPr>
              <a:t>●  </a:t>
            </a:r>
            <a:r>
              <a:rPr sz="3000" b="0">
                <a:solidFill>
                  <a:srgbClr val="FFFFFF"/>
                </a:solidFill>
                <a:latin typeface="Microsoft YaHei"/>
              </a:rPr>
              <a:t>鼓励学生在课后继续阅读朱自清的作品。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1280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CA3AF"/>
                </a:solidFill>
                <a:latin typeface="Microsoft YaHei"/>
              </a:rPr>
              <a:t>12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743200"/>
            <a:ext cx="1097280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72865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Microsoft YaHei"/>
              </a:rPr>
              <a:t>谢谢观看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9CA3AF"/>
                </a:solidFill>
                <a:latin typeface="Microsoft YaHei"/>
              </a:rPr>
              <a:t>AI 备课助手 · 自动生成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